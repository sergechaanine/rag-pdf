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 (ألف ريال)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110</c:v>
                </c:pt>
                <c:pt idx="3">
                  <c:v>108</c:v>
                </c:pt>
                <c:pt idx="4">
                  <c:v>120</c:v>
                </c:pt>
                <c:pt idx="5">
                  <c:v>128</c:v>
                </c:pt>
                <c:pt idx="6">
                  <c:v>135</c:v>
                </c:pt>
                <c:pt idx="7">
                  <c:v>140</c:v>
                </c:pt>
                <c:pt idx="8">
                  <c:v>138</c:v>
                </c:pt>
                <c:pt idx="9">
                  <c:v>150</c:v>
                </c:pt>
                <c:pt idx="10">
                  <c:v>160</c:v>
                </c:pt>
                <c:pt idx="11">
                  <c:v>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التسويق (ألف ريال)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18</c:v>
                </c:pt>
                <c:pt idx="11">
                  <c:v>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 (ألف ريال)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أغسطس</c:v>
                </c:pt>
                <c:pt idx="8">
                  <c:v>سبتمبر</c:v>
                </c:pt>
                <c:pt idx="9">
                  <c:v>أكتوبر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105.0</c:v>
                </c:pt>
                <c:pt idx="2">
                  <c:v>110.0</c:v>
                </c:pt>
                <c:pt idx="3">
                  <c:v>108.0</c:v>
                </c:pt>
                <c:pt idx="4">
                  <c:v>120.0</c:v>
                </c:pt>
                <c:pt idx="5">
                  <c:v>128.0</c:v>
                </c:pt>
                <c:pt idx="6">
                  <c:v>135.0</c:v>
                </c:pt>
                <c:pt idx="7">
                  <c:v>140.0</c:v>
                </c:pt>
                <c:pt idx="8">
                  <c:v>138.0</c:v>
                </c:pt>
                <c:pt idx="9">
                  <c:v>150.0</c:v>
                </c:pt>
                <c:pt idx="10">
                  <c:v>160.0</c:v>
                </c:pt>
                <c:pt idx="11">
                  <c:v>175.0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>
                <a:latin typeface="Arial"/>
              </a:rPr>
              <a:t>مؤسسة النور | ملخص الأداء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300" b="0" lang="ar-SA">
                <a:latin typeface="Arial"/>
              </a:rPr>
              <a:t>الإيرادات السنوية: 1,569 ألف ريال</a:t>
            </a:r>
          </a:p>
          <a:p>
            <a:pPr algn="r" rtl="1"/>
            <a:r>
              <a:rPr sz="2300" b="0" lang="ar-SA">
                <a:latin typeface="Arial"/>
              </a:rPr>
              <a:t>الهدف السنوي: 1,500 ألف ريال؛ التجاوز: 69 ألفاً (4.6%).</a:t>
            </a:r>
          </a:p>
          <a:p>
            <a:pPr algn="r" rtl="1"/>
            <a:r>
              <a:rPr sz="2300" b="0" lang="ar-SA">
                <a:latin typeface="Arial"/>
              </a:rPr>
              <a:t>الإيرادات الشهرية ارتفعت إجمالاً خلال العام، مع تراجعين طفيفين في أبريل وسبتمبر.</a:t>
            </a:r>
          </a:p>
          <a:p>
            <a:pPr algn="r" rtl="1"/>
            <a:r>
              <a:rPr sz="2300" b="0" lang="ar-SA">
                <a:latin typeface="Arial"/>
              </a:rPr>
              <a:t>كل الأرقام في هذا العرض خيالية ومخصصة لتجربة استرجاع المستندات.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/>
            </a:pPr>
            <a:r>
              <a:t>Monthly revenue in 2025 (thousand SAR)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1078992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400" b="1" lang="ar-SA">
                <a:latin typeface="Arial"/>
              </a:rPr>
              <a:t>مقارنة الإيرادات ربع السنوية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46304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768096"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الربع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2024 (ألف ريال)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2025 (ألف ريال)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الربع الأول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315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الربع الثاني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356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الربع الثالث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413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الربع الرابع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800" b="0" lang="ar-SA">
                          <a:latin typeface="Arial"/>
                        </a:rPr>
                        <a:t>485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600" b="1" lang="ar-SA">
                <a:latin typeface="Arial"/>
              </a:rPr>
              <a:t>حدود ما يمكن استنتاجه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200" b="0" lang="ar-SA">
                <a:latin typeface="Arial"/>
              </a:rPr>
              <a:t>ارتفاع الإيرادات والإنفاق معاً لا يثبت أن التسويق سبّب نمو الإيرادات.</a:t>
            </a:r>
          </a:p>
          <a:p>
            <a:pPr algn="r" rtl="1"/>
            <a:r>
              <a:rPr sz="2200" b="0" lang="ar-SA">
                <a:latin typeface="Arial"/>
              </a:rPr>
              <a:t>المرتجعات مسجلة حسب شهر المعالجة، لا حسب شهر الطلب الأصلي.</a:t>
            </a:r>
          </a:p>
          <a:p>
            <a:pPr algn="r" rtl="1"/>
            <a:r>
              <a:rPr sz="2200" b="0" lang="ar-SA">
                <a:latin typeface="Arial"/>
              </a:rPr>
              <a:t>لا توجد بيانات تكاليف كافية لحساب صافي الربح أو هامش الربح.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